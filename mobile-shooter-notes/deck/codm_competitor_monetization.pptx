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市場總覽" id="{e40959bb-2d03-b1d2-68dd-2a6a403a6a9e}">
          <p14:sldIdLst>
            <p14:sldId id="256"/>
          </p14:sldIdLst>
        </p14:section>
        <p14:section name="競品拆解" id="{6ec50574-1c2b-b4cf-cf42-aed8dca0e03e}">
          <p14:sldIdLst>
            <p14:sldId id="257"/>
            <p14:sldId id="258"/>
            <p14:sldId id="259"/>
            <p14:sldId id="260"/>
            <p14:sldId id="261"/>
          </p14:sldIdLst>
        </p14:section>
        <p14:section name="對 CODM 的啟示" id="{34cd9f5e-2a6f-7fae-9eff-a00305472762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手遊射擊 IAP</c:v>
                </c:pt>
              </c:strCache>
            </c:strRef>
          </c:tx>
          <c:spPr>
            <a:solidFill>
              <a:srgbClr val="A8BDD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BDD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BD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8BDD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274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40</c:v>
                </c:pt>
                <c:pt idx="2">
                  <c:v>43</c:v>
                </c:pt>
                <c:pt idx="3">
                  <c:v>51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DDDD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ARPD</c:v>
                </c:pt>
              </c:strCache>
            </c:strRef>
          </c:tx>
          <c:spPr>
            <a:solidFill>
              <a:srgbClr val="A8BDD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BDD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8BD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274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Free Fire</c:v>
                  </c:pt>
                  <c:pt idx="1">
                    <c:v>PUBG MOBILE</c:v>
                  </c:pt>
                  <c:pt idx="2">
                    <c:v>CODM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</c:v>
                </c:pt>
                <c:pt idx="1">
                  <c:v>12</c:v>
                </c:pt>
                <c:pt idx="2">
                  <c:v>7.3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DDDD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日均花費</c:v>
                </c:pt>
              </c:strCache>
            </c:strRef>
          </c:tx>
          <c:spPr>
            <a:solidFill>
              <a:srgbClr val="A8BDD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BDD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274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推出前</c:v>
                  </c:pt>
                  <c:pt idx="1">
                    <c:v>推出後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</c:v>
                </c:pt>
                <c:pt idx="1">
                  <c:v>70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DDDD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美國佔比</c:v>
                </c:pt>
              </c:strCache>
            </c:strRef>
          </c:tx>
          <c:spPr>
            <a:solidFill>
              <a:srgbClr val="A8BDD4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8BDD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274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下載</c:v>
                  </c:pt>
                  <c:pt idx="1">
                    <c:v>累計收入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2.1</c:v>
                </c:pt>
                <c:pt idx="1">
                  <c:v>30.4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DDDD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中國</c:v>
                </c:pt>
              </c:strCache>
            </c:strRef>
          </c:tx>
          <c:spPr>
            <a:solidFill>
              <a:srgbClr val="1A27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Consola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IAP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中國以外</c:v>
                </c:pt>
              </c:strCache>
            </c:strRef>
          </c:tx>
          <c:spPr>
            <a:solidFill>
              <a:srgbClr val="A8BD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Consola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IAP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Consolas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DDDDD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555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累積機率</c:v>
                </c:pt>
              </c:strCache>
            </c:strRef>
          </c:tx>
          <c:spPr>
            <a:solidFill>
              <a:srgbClr val="1A2744"/>
            </a:solidFill>
            <a:ln w="25400" cap="flat">
              <a:solidFill>
                <a:srgbClr val="1A27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Consola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2744"/>
              </a:solidFill>
              <a:ln w="9525" cap="flat">
                <a:solidFill>
                  <a:srgbClr val="1A27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</c:v>
                  </c:pt>
                  <c:pt idx="1">
                    <c:v>25</c:v>
                  </c:pt>
                  <c:pt idx="2">
                    <c:v>50</c:v>
                  </c:pt>
                  <c:pt idx="3">
                    <c:v>75</c:v>
                  </c:pt>
                  <c:pt idx="4">
                    <c:v>100</c:v>
                  </c:pt>
                  <c:pt idx="5">
                    <c:v>125</c:v>
                  </c:pt>
                  <c:pt idx="6">
                    <c:v>150</c:v>
                  </c:pt>
                  <c:pt idx="7">
                    <c:v>175</c:v>
                  </c:pt>
                  <c:pt idx="8">
                    <c:v>200</c:v>
                  </c:pt>
                  <c:pt idx="9">
                    <c:v>225</c:v>
                  </c:pt>
                  <c:pt idx="10">
                    <c:v>250</c:v>
                  </c:pt>
                  <c:pt idx="11">
                    <c:v>251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20.2</c:v>
                </c:pt>
                <c:pt idx="2">
                  <c:v>36.4</c:v>
                </c:pt>
                <c:pt idx="3">
                  <c:v>49.2</c:v>
                </c:pt>
                <c:pt idx="4">
                  <c:v>59.5</c:v>
                </c:pt>
                <c:pt idx="5">
                  <c:v>67.7</c:v>
                </c:pt>
                <c:pt idx="6">
                  <c:v>74.2</c:v>
                </c:pt>
                <c:pt idx="7">
                  <c:v>79.4</c:v>
                </c:pt>
                <c:pt idx="8">
                  <c:v>83.6</c:v>
                </c:pt>
                <c:pt idx="9">
                  <c:v>86.9</c:v>
                </c:pt>
                <c:pt idx="10">
                  <c:v>89.6</c:v>
                </c:pt>
                <c:pt idx="11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Consola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55555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55555"/>
                    </a:solidFill>
                    <a:latin typeface="Arial"/>
                  </a:rPr>
                  <a:t>抽數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DDDD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A8BDD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Fortnite</c:v>
                  </c:pt>
                  <c:pt idx="1">
                    <c:v>Call of Duty</c:v>
                  </c:pt>
                  <c:pt idx="2">
                    <c:v>Valorant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14</c:v>
                </c:pt>
                <c:pt idx="2">
                  <c:v>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1A274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Fortnite</c:v>
                  </c:pt>
                  <c:pt idx="1">
                    <c:v>Call of Duty</c:v>
                  </c:pt>
                  <c:pt idx="2">
                    <c:v>Valorant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</c:v>
                </c:pt>
                <c:pt idx="1">
                  <c:v>9</c:v>
                </c:pt>
                <c:pt idx="2">
                  <c:v>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DDDD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555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重點：1）錢在長、人在縮；2）中國以外的射擊盤子持平到小跌，台港澳要當存量市場經營；3）CODM 的 MAU 排名比 IAP 排名前面，代表每位玩家的變現相對對手低（推論，排名不等於金額）。來源：Sensor Tower Action &amp; Strategy p13、p25–27；海外遊戲市場洞察 p12。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 價格會依地區與時期不同；220／520 CP 是 2021 年賽季的價格，現行價格請在遊戲內確認。神話抽獎加上升級可到 150–200 美元（Cyberpost 2025）。新手禮包與會員訂閱沒有查到公開資訊，標為未查證。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X-Suit 的美元金額是用 3,850 UC＝49.99 美元推算的，不是原文數字。抽數 200–300 是 Topuplist 根據過去 X-Suit 的經驗範圍，實際以遊戲內公告為準。新手禮包：首儲雙倍 UC（Topuplist 提到官方會重置首儲加贈）。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Naavik 認為 Free Fire 賣的數值因為隨機性高，效果被控制在「剛好」的範圍；多數高價道具是 1、3、7 天限時，拿到永久版的機率約 3%。會員：印度週會員 159 盧比、月會員 799 盧比（Sportskeeda）。2026 上半年 Free Fire 是海外下載第 2、收入第 9（Sensor Tower 海外遊戲市場洞察 p17）。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三角洲的通行證價格和安全箱是中國版資訊（18183，2026/6、2026/7），台服是否相同要確認。坊間有哈夫幣回收市場（GameGeeker 2026/4），屬灰色交易。巴哈三角洲板三個月 250 篇新文章，陸服與帳號相關話題最多。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累積機率曲線是自己推算的：1 −（1 − 0.9%）^n，假設每抽獨立。台灣轉蛋機率公布：主管機關可限期改正，未改正罰 3–30 萬元、再犯 5–50 萬元（中央社 2022/9 報導新制 2023 年上路）。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優先順序的理由：會員和付費引導開發量小、可以先在一個市場測；透明保底同時是合規要求；玩法定位要開發，風險是分散配對人口。所有「CODM 可以怎麼做」都是假設，需要內部營收組成和付費者分布來驗證。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ALYSIS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0"/>
            <a:ext cx="11365992" cy="987552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14600"/>
            <a:ext cx="4754880" cy="34747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30952" y="2514600"/>
            <a:ext cx="6446520" cy="3474720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1508760" y="274320"/>
            <a:ext cx="7040880" cy="98755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8732520" y="274320"/>
            <a:ext cx="3044952" cy="98755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200"/>
              </a:spcAft>
              <a:buNone/>
              <a:defRPr lang="en-US" sz="10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spcAft>
                <a:spcPts val="200"/>
              </a:spcAft>
              <a:buNone/>
            </a:pPr>
            <a:endParaRPr lang="en-US" sz="10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566928" y="1426464"/>
            <a:ext cx="5349240" cy="8778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411480" y="6089904"/>
            <a:ext cx="10835640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 txBox="1"/>
          <p:nvPr/>
        </p:nvSpPr>
        <p:spPr>
          <a:xfrm>
            <a:off x="411480" y="301752"/>
            <a:ext cx="914400" cy="9144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射擊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手遊</a:t>
            </a:r>
            <a:endParaRPr lang="en-US" sz="13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1508760" y="274320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手遊射擊「錢在長、人在縮」：成長集中在中國與頭部遊戲，CODM 玩家規模第 3、收入第 5</a:t>
            </a:r>
            <a:endParaRPr lang="en-US" sz="2400" dirty="0"/>
          </a:p>
        </p:txBody>
      </p:sp>
      <p:sp>
        <p:nvSpPr>
          <p:cNvPr id="4" name="Text 3"/>
          <p:cNvSpPr/>
          <p:nvPr>
            <p:ph idx="104" type="body" hasCustomPrompt="1"/>
          </p:nvPr>
        </p:nvSpPr>
        <p:spPr>
          <a:xfrm>
            <a:off x="8732520" y="274320"/>
            <a:ext cx="30449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5"/>
                </a:solidFill>
              </a:rPr>
              <a:t>資料來源：Sensor Tower《Gaming Deep Dive: Action &amp; Strategy》p13、p25–27；《2026 年海外遊戲市場洞察》p12。收入為 App Store 和 Google Play 的 IAP 估算，中國只算 iOS。</a:t>
            </a:r>
            <a:endParaRPr lang="en-US" sz="1000" dirty="0"/>
          </a:p>
        </p:txBody>
      </p:sp>
      <p:sp>
        <p:nvSpPr>
          <p:cNvPr id="5" name="Text 3"/>
          <p:cNvSpPr/>
          <p:nvPr>
            <p:ph idx="105" type="body" hasCustomPrompt="1"/>
          </p:nvPr>
        </p:nvSpPr>
        <p:spPr>
          <a:xfrm>
            <a:off x="566928" y="1426464"/>
            <a:ext cx="5349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2025 年全球手遊射擊 IAP 51 億美元，年增 16.1%；但下載 −3.5%、使用時長 −16.1%。中國以外的手遊射擊每半年約 14–15 億美元，2026 上半年比前半年 −4%。</a:t>
            </a:r>
            <a:endParaRPr lang="en-US" sz="1200" dirty="0"/>
          </a:p>
        </p:txBody>
      </p:sp>
      <p:sp>
        <p:nvSpPr>
          <p:cNvPr id="6" name="kpi-1"/>
          <p:cNvSpPr/>
          <p:nvPr/>
        </p:nvSpPr>
        <p:spPr>
          <a:xfrm>
            <a:off x="6053328" y="1481328"/>
            <a:ext cx="1335024" cy="768096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26480" y="151790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$5.1B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745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2025 手遊射擊 IAP</a:t>
            </a:r>
            <a:endParaRPr lang="en-US" sz="1000" dirty="0"/>
          </a:p>
        </p:txBody>
      </p:sp>
      <p:sp>
        <p:nvSpPr>
          <p:cNvPr id="9" name="kpi-2"/>
          <p:cNvSpPr/>
          <p:nvPr/>
        </p:nvSpPr>
        <p:spPr>
          <a:xfrm>
            <a:off x="7479792" y="1481328"/>
            <a:ext cx="1335024" cy="768096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52944" y="151790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+16.1%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552944" y="18745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IAP 年增</a:t>
            </a:r>
            <a:endParaRPr lang="en-US" sz="1000" dirty="0"/>
          </a:p>
        </p:txBody>
      </p:sp>
      <p:sp>
        <p:nvSpPr>
          <p:cNvPr id="12" name="kpi-3"/>
          <p:cNvSpPr/>
          <p:nvPr/>
        </p:nvSpPr>
        <p:spPr>
          <a:xfrm>
            <a:off x="8906256" y="1481328"/>
            <a:ext cx="1335024" cy="768096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79408" y="151790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−3.5%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979408" y="18745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下載年增</a:t>
            </a:r>
            <a:endParaRPr lang="en-US" sz="1000" dirty="0"/>
          </a:p>
        </p:txBody>
      </p:sp>
      <p:sp>
        <p:nvSpPr>
          <p:cNvPr id="15" name="kpi-4"/>
          <p:cNvSpPr/>
          <p:nvPr/>
        </p:nvSpPr>
        <p:spPr>
          <a:xfrm>
            <a:off x="10332720" y="1481328"/>
            <a:ext cx="1335024" cy="768096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05872" y="151790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−16.1%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0405872" y="18745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使用時長年增</a:t>
            </a:r>
            <a:endParaRPr lang="en-US" sz="1000" dirty="0"/>
          </a:p>
        </p:txBody>
      </p:sp>
      <p:sp>
        <p:nvSpPr>
          <p:cNvPr id="18" name="chart-title"/>
          <p:cNvSpPr txBox="1"/>
          <p:nvPr/>
        </p:nvSpPr>
        <p:spPr>
          <a:xfrm>
            <a:off x="566928" y="2615184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全球手遊射擊 IAP（億美元）</a:t>
            </a:r>
            <a:endParaRPr lang="en-US" sz="13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02920" y="2999232"/>
          <a:ext cx="45720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chart-note"/>
          <p:cNvSpPr txBox="1"/>
          <p:nvPr/>
        </p:nvSpPr>
        <p:spPr>
          <a:xfrm>
            <a:off x="566928" y="557784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出處：Sensor Tower Action &amp; Strategy p13。</a:t>
            </a:r>
            <a:endParaRPr lang="en-US" sz="1000" dirty="0"/>
          </a:p>
        </p:txBody>
      </p:sp>
      <p:graphicFrame>
        <p:nvGraphicFramePr>
          <p:cNvPr id="2" name="detail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68112" y="2651760"/>
          <a:ext cx="61722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68680"/>
                <a:gridCol w="868680"/>
                <a:gridCol w="2971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遊戲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IAP 排名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MAU 排名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怎麼解讀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和平精英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中國市場；收入排名遠高於玩家數排名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Free Fire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玩家規模最大，Garena 自研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三角洲行動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96% 收入來自中國，中國以外還沒爆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PUBG MOBILE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規模和變現都在前段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CODM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玩家多、變現排名較後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2" name="table-note"/>
          <p:cNvSpPr txBox="1"/>
          <p:nvPr/>
        </p:nvSpPr>
        <p:spPr>
          <a:xfrm>
            <a:off x="5468112" y="562356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2026 Q1 手遊射擊排名（Sensor Tower Action &amp; Strategy p27）</a:t>
            </a:r>
            <a:endParaRPr lang="en-US" sz="1000" dirty="0"/>
          </a:p>
        </p:txBody>
      </p:sp>
      <p:sp>
        <p:nvSpPr>
          <p:cNvPr id="23" name="Text 3"/>
          <p:cNvSpPr/>
          <p:nvPr>
            <p:ph idx="106" type="body" hasCustomPrompt="1"/>
          </p:nvPr>
        </p:nvSpPr>
        <p:spPr>
          <a:xfrm>
            <a:off x="411480" y="6089904"/>
            <a:ext cx="10835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射擊手遊進入存量競爭。</a:t>
            </a:r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下載和使用時長都在降，收入成長集中在中國與頭部遊戲。CODM 玩家規模第 3、收入第 5，成長槓桿在付費深度與回流，而不是拉新。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 txBox="1"/>
          <p:nvPr/>
        </p:nvSpPr>
        <p:spPr>
          <a:xfrm>
            <a:off x="411480" y="301752"/>
            <a:ext cx="914400" cy="9144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CODM</a:t>
            </a:r>
            <a:endParaRPr lang="en-US" sz="13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1508760" y="274320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《Call of Duty: Mobile》用低價通行證衝付費率、限時抽獎吃深度，但單位變現仍落後競品</a:t>
            </a:r>
            <a:endParaRPr lang="en-US" sz="2400" dirty="0"/>
          </a:p>
        </p:txBody>
      </p:sp>
      <p:sp>
        <p:nvSpPr>
          <p:cNvPr id="4" name="Text 3"/>
          <p:cNvSpPr/>
          <p:nvPr>
            <p:ph idx="104" type="body" hasCustomPrompt="1"/>
          </p:nvPr>
        </p:nvSpPr>
        <p:spPr>
          <a:xfrm>
            <a:off x="8732520" y="274320"/>
            <a:ext cx="30449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5"/>
                </a:solidFill>
              </a:rPr>
              <a:t>資料來源：Deconstructor of Fun（2019）、Ginx（2021 賽季通行證價格）、MobileMatters（2022）、Cyberpost（2025）、GameRefinery（2023，2024 更新）。</a:t>
            </a:r>
            <a:endParaRPr lang="en-US" sz="1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5"/>
                </a:solidFill>
              </a:rPr>
              <a:t>✓ 有　✕ 無　？ 未查證</a:t>
            </a:r>
            <a:endParaRPr lang="en-US" sz="1000" dirty="0"/>
          </a:p>
        </p:txBody>
      </p:sp>
      <p:sp>
        <p:nvSpPr>
          <p:cNvPr id="5" name="Text 3"/>
          <p:cNvSpPr/>
          <p:nvPr>
            <p:ph idx="105" type="body" hasCustomPrompt="1"/>
          </p:nvPr>
        </p:nvSpPr>
        <p:spPr>
          <a:xfrm>
            <a:off x="566928" y="1426464"/>
            <a:ext cx="5349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TiMi 開發、Activision 發行，2019 年 10 月上線；Garena 代理台港澳及部分東南亞市場。以 CoD 經典地圖和快節奏多人對戰為核心，另有大逃殺、5v5 等模式；付費以外觀為主。</a:t>
            </a:r>
            <a:endParaRPr lang="en-US" sz="1200" dirty="0"/>
          </a:p>
        </p:txBody>
      </p:sp>
      <p:graphicFrame>
        <p:nvGraphicFramePr>
          <p:cNvPr id="3" name="mechanism-gri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53328" y="1481328"/>
          <a:ext cx="5605272" cy="914400"/>
        </p:xfrm>
        <a:graphic>
          <a:graphicData uri="http://schemas.openxmlformats.org/drawingml/2006/table">
            <a:tbl>
              <a:tblPr/>
              <a:tblGrid>
                <a:gridCol w="700659"/>
                <a:gridCol w="700659"/>
                <a:gridCol w="700659"/>
                <a:gridCol w="700659"/>
                <a:gridCol w="700659"/>
                <a:gridCol w="700659"/>
                <a:gridCol w="700659"/>
                <a:gridCol w="700659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貨幣包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運營活動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限時抽獎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新手禮包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通行證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會員訂閱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直購商店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數值或保險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？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？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5"/>
                          </a:solidFill>
                        </a:rPr>
                        <a:t>✕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chart-title"/>
          <p:cNvSpPr txBox="1"/>
          <p:nvPr/>
        </p:nvSpPr>
        <p:spPr>
          <a:xfrm>
            <a:off x="566928" y="2615184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每次下載收入（ARPD，美元）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2920" y="2999232"/>
          <a:ext cx="45720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chart-note"/>
          <p:cNvSpPr txBox="1"/>
          <p:nvPr/>
        </p:nvSpPr>
        <p:spPr>
          <a:xfrm>
            <a:off x="566928" y="557784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出處：GameRefinery（2023 年文章，2024 年更新）。</a:t>
            </a:r>
            <a:endParaRPr lang="en-US" sz="1000" dirty="0"/>
          </a:p>
        </p:txBody>
      </p:sp>
      <p:graphicFrame>
        <p:nvGraphicFramePr>
          <p:cNvPr id="5" name="detail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68112" y="2651760"/>
          <a:ext cx="617220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508760"/>
                <a:gridCol w="214884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付費層級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價格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機制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核心作用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零付費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免費通行證軌道、活動任務、登入獎勵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維持日活與留存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入門付費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220 CP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付費通行證（50 級）。上線時是 800 CP、100 級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低門檻衝付費率、穩定收入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進階付費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520 CP 起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通行證豪華版、商店組合包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提高客單價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深度付費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傳說主獎 &gt;125 美元；神話一池 6,000–8,000 CP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幸運抽獎：每池 10 樣、越抽越貴、最後一抽必中主獎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營收高峰、吃大R 深度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1" name="Text 3"/>
          <p:cNvSpPr/>
          <p:nvPr>
            <p:ph idx="106" type="body" hasCustomPrompt="1"/>
          </p:nvPr>
        </p:nvSpPr>
        <p:spPr>
          <a:xfrm>
            <a:off x="411480" y="6089904"/>
            <a:ext cx="10835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通行證從 800 CP 降到 220 CP，用低價換付費人數，營收高峰交給神話與傳說抽獎。</a:t>
            </a:r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每次下載收入約 7.3 美元，是三巨頭最低：會員、個人化禮包、回流禮包是最明確的機會。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 txBox="1"/>
          <p:nvPr/>
        </p:nvSpPr>
        <p:spPr>
          <a:xfrm>
            <a:off x="411480" y="301752"/>
            <a:ext cx="914400" cy="9144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</a:t>
            </a:r>
            <a:endParaRPr lang="en-US" sz="13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1508760" y="274320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《PUBG MOBILE》用通行證奠定收入底盤，再用可升級套裝與月訂閱同時做深度和回購</a:t>
            </a:r>
            <a:endParaRPr lang="en-US" sz="2400" dirty="0"/>
          </a:p>
        </p:txBody>
      </p:sp>
      <p:sp>
        <p:nvSpPr>
          <p:cNvPr id="4" name="Text 3"/>
          <p:cNvSpPr/>
          <p:nvPr>
            <p:ph idx="104" type="body" hasCustomPrompt="1"/>
          </p:nvPr>
        </p:nvSpPr>
        <p:spPr>
          <a:xfrm>
            <a:off x="8732520" y="274320"/>
            <a:ext cx="30449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5"/>
                </a:solidFill>
              </a:rPr>
              <a:t>資料來源：Sensor Tower 部落格（2018）、Sensor Tower《2026 年移動遊戲變現趨勢洞察》p20、Topuplist（2026/6、2026/8）、GameRefinery。</a:t>
            </a:r>
            <a:endParaRPr lang="en-US" sz="1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5"/>
                </a:solidFill>
              </a:rPr>
              <a:t>✓ 有　✕ 無　？ 未查證</a:t>
            </a:r>
            <a:endParaRPr lang="en-US" sz="1000" dirty="0"/>
          </a:p>
        </p:txBody>
      </p:sp>
      <p:sp>
        <p:nvSpPr>
          <p:cNvPr id="5" name="Text 3"/>
          <p:cNvSpPr/>
          <p:nvPr>
            <p:ph idx="105" type="body" hasCustomPrompt="1"/>
          </p:nvPr>
        </p:nvSpPr>
        <p:spPr>
          <a:xfrm>
            <a:off x="566928" y="1426464"/>
            <a:ext cx="5349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騰訊光子工作室群開發，2018 年上線的大逃殺手遊。貨幣為 UC（60 UC＝0.99 美元、3,850 UC＝49.99 美元）。2018 年加入 Royale Pass 後，收入結構從商店轉為通行證＋抽獎＋訂閱。</a:t>
            </a:r>
            <a:endParaRPr lang="en-US" sz="1200" dirty="0"/>
          </a:p>
        </p:txBody>
      </p:sp>
      <p:graphicFrame>
        <p:nvGraphicFramePr>
          <p:cNvPr id="4" name="mechanism-gri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53328" y="1481328"/>
          <a:ext cx="5605272" cy="914400"/>
        </p:xfrm>
        <a:graphic>
          <a:graphicData uri="http://schemas.openxmlformats.org/drawingml/2006/table">
            <a:tbl>
              <a:tblPr/>
              <a:tblGrid>
                <a:gridCol w="700659"/>
                <a:gridCol w="700659"/>
                <a:gridCol w="700659"/>
                <a:gridCol w="700659"/>
                <a:gridCol w="700659"/>
                <a:gridCol w="700659"/>
                <a:gridCol w="700659"/>
                <a:gridCol w="700659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貨幣包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運營活動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限時抽獎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新手禮包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通行證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會員訂閱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直購商店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數值或保險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5"/>
                          </a:solidFill>
                        </a:rPr>
                        <a:t>✕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chart-title"/>
          <p:cNvSpPr txBox="1"/>
          <p:nvPr/>
        </p:nvSpPr>
        <p:spPr>
          <a:xfrm>
            <a:off x="566928" y="2615184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推出 Royale Pass 前後的全球日均花費（萬美元）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2920" y="2999232"/>
          <a:ext cx="45720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chart-note"/>
          <p:cNvSpPr txBox="1"/>
          <p:nvPr/>
        </p:nvSpPr>
        <p:spPr>
          <a:xfrm>
            <a:off x="566928" y="557784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出處：Sensor Tower（2018/6）。推出後第一週花費比前三週平均 +365%。</a:t>
            </a:r>
            <a:endParaRPr lang="en-US" sz="1000" dirty="0"/>
          </a:p>
        </p:txBody>
      </p:sp>
      <p:graphicFrame>
        <p:nvGraphicFramePr>
          <p:cNvPr id="7" name="detail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68112" y="2651760"/>
          <a:ext cx="61722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74320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變現策略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機制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特點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基礎貨幣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UC：60 UC＝0.99 美元起，大包單價較低，週末加贈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所有付費的入口，鼓勵一次買多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通行證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Royale Pass，推出時精英版約 9.99 美元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推出第一週花費 +365%，奠定收入底盤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月訂閱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Prime 月 0.99 美元、Prime Plus 月 9.99 美元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每日領 UC，拉回購和日活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限時抽獎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X-Suit 單抽 60 UC、十抽 540 UC，通常要 200–300 抽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約 1.1–1.6 萬 UC（推算約 140–210 美元）只拿到基本型，升級另計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1" name="Text 3"/>
          <p:cNvSpPr/>
          <p:nvPr>
            <p:ph idx="106" type="body" hasCustomPrompt="1"/>
          </p:nvPr>
        </p:nvSpPr>
        <p:spPr>
          <a:xfrm>
            <a:off x="411480" y="6089904"/>
            <a:ext cx="10835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結構是「通行證撐底盤＋訂閱拉回購＋X-Suit 抽獎吃深度」。</a:t>
            </a:r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和 CODM 最大的差別在訂閱層：PUBG MOBILE 有 0.99／9.99 美元兩檔月訂閱，CODM 目前沒查到對應商品。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 txBox="1"/>
          <p:nvPr/>
        </p:nvSpPr>
        <p:spPr>
          <a:xfrm>
            <a:off x="411480" y="301752"/>
            <a:ext cx="914400" cy="9144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FIRE</a:t>
            </a:r>
            <a:endParaRPr lang="en-US" sz="13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1508760" y="274320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《Free Fire》靠低階機、短局和新興市場做出最大玩家規模，也是三巨頭中單位變現最高的</a:t>
            </a:r>
            <a:endParaRPr lang="en-US" sz="2400" dirty="0"/>
          </a:p>
        </p:txBody>
      </p:sp>
      <p:sp>
        <p:nvSpPr>
          <p:cNvPr id="4" name="Text 3"/>
          <p:cNvSpPr/>
          <p:nvPr>
            <p:ph idx="104" type="body" hasCustomPrompt="1"/>
          </p:nvPr>
        </p:nvSpPr>
        <p:spPr>
          <a:xfrm>
            <a:off x="8732520" y="274320"/>
            <a:ext cx="30449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5"/>
                </a:solidFill>
              </a:rPr>
              <a:t>資料來源：Naavik（2022/3）、GameRefinery、Sportskeeda、Sensor Tower《2026 年海外遊戲市場洞察》p17。</a:t>
            </a:r>
            <a:endParaRPr lang="en-US" sz="1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5"/>
                </a:solidFill>
              </a:rPr>
              <a:t>✓ 有　✕ 無　？ 未查證</a:t>
            </a:r>
            <a:endParaRPr lang="en-US" sz="1000" dirty="0"/>
          </a:p>
        </p:txBody>
      </p:sp>
      <p:sp>
        <p:nvSpPr>
          <p:cNvPr id="5" name="Text 3"/>
          <p:cNvSpPr/>
          <p:nvPr>
            <p:ph idx="105" type="body" hasCustomPrompt="1"/>
          </p:nvPr>
        </p:nvSpPr>
        <p:spPr>
          <a:xfrm>
            <a:off x="566928" y="1426464"/>
            <a:ext cx="5349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Garena 自研，2017 年上線。50 人一局、每局 10–15 分鐘，能在 100 美元的手機上跑；先打拉美和東南亞，2021 年底下載破 10 億。少數會賣部分數值的主流射擊手遊。</a:t>
            </a:r>
            <a:endParaRPr lang="en-US" sz="1200" dirty="0"/>
          </a:p>
        </p:txBody>
      </p:sp>
      <p:graphicFrame>
        <p:nvGraphicFramePr>
          <p:cNvPr id="5" name="mechanism-gri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53328" y="1481328"/>
          <a:ext cx="5605272" cy="914400"/>
        </p:xfrm>
        <a:graphic>
          <a:graphicData uri="http://schemas.openxmlformats.org/drawingml/2006/table">
            <a:tbl>
              <a:tblPr/>
              <a:tblGrid>
                <a:gridCol w="700659"/>
                <a:gridCol w="700659"/>
                <a:gridCol w="700659"/>
                <a:gridCol w="700659"/>
                <a:gridCol w="700659"/>
                <a:gridCol w="700659"/>
                <a:gridCol w="700659"/>
                <a:gridCol w="700659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貨幣包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運營活動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限時抽獎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新手禮包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通行證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會員訂閱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直購商店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數值或保險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chart-title"/>
          <p:cNvSpPr txBox="1"/>
          <p:nvPr/>
        </p:nvSpPr>
        <p:spPr>
          <a:xfrm>
            <a:off x="566928" y="2615184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美國市場佔 Free Fire 的比重（%）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2920" y="2999232"/>
          <a:ext cx="45720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chart-note"/>
          <p:cNvSpPr txBox="1"/>
          <p:nvPr/>
        </p:nvSpPr>
        <p:spPr>
          <a:xfrm>
            <a:off x="566928" y="557784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出處：Naavik（2022/3）。新興市場拉人、高付費市場變現。</a:t>
            </a:r>
            <a:endParaRPr lang="en-US" sz="1000" dirty="0"/>
          </a:p>
        </p:txBody>
      </p:sp>
      <p:graphicFrame>
        <p:nvGraphicFramePr>
          <p:cNvPr id="9" name="detail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68112" y="2651760"/>
          <a:ext cx="61722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74320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對比維度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Free Fire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CODM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核心玩法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50 人大逃殺、每局 10–15 分鐘；自動瞄準、低後座力，門檻低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CoD 快節奏多人對戰，另有大逃殺、5v5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主要市場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拉美、東南亞；印度 2022 年 2 月被禁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Garena 版：台港澳及部分東南亞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付費設計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會員、Luck Royale、Evo 槍；角色技能和槍枝變體有加成；多數高價道具是限時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通行證＋幸運抽獎，外觀為主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每次下載收入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約 29 美元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約 7.3 美元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1" name="Text 3"/>
          <p:cNvSpPr/>
          <p:nvPr>
            <p:ph idx="106" type="body" hasCustomPrompt="1"/>
          </p:nvPr>
        </p:nvSpPr>
        <p:spPr>
          <a:xfrm>
            <a:off x="411480" y="6089904"/>
            <a:ext cx="10835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Free Fire 證明玩法和裝置的差異化能讓後進者超車：</a:t>
            </a:r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用低階機和短局打下新興市場，再靠會員與抽獎在高付費市場變現。代價是賣數值帶來的公平性風險。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 txBox="1"/>
          <p:nvPr/>
        </p:nvSpPr>
        <p:spPr>
          <a:xfrm>
            <a:off x="411480" y="301752"/>
            <a:ext cx="914400" cy="9144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三角洲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行動</a:t>
            </a:r>
            <a:endParaRPr lang="en-US" sz="13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1508760" y="274320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《三角洲行動》用撤離玩法和跨平台換戰場，付費從「賣外觀」延伸到「賣保險與便利」</a:t>
            </a:r>
            <a:endParaRPr lang="en-US" sz="2400" dirty="0"/>
          </a:p>
        </p:txBody>
      </p:sp>
      <p:sp>
        <p:nvSpPr>
          <p:cNvPr id="4" name="Text 3"/>
          <p:cNvSpPr/>
          <p:nvPr>
            <p:ph idx="104" type="body" hasCustomPrompt="1"/>
          </p:nvPr>
        </p:nvSpPr>
        <p:spPr>
          <a:xfrm>
            <a:off x="8732520" y="274320"/>
            <a:ext cx="30449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5"/>
                </a:solidFill>
              </a:rPr>
              <a:t>資料來源：Sensor Tower Action &amp; Strategy p27、p29、p30；18183（2026/6、2026/7）；PCGamesN；GameGeeker（2026/4）。付費資訊多為中國版。</a:t>
            </a:r>
            <a:endParaRPr lang="en-US" sz="1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5"/>
                </a:solidFill>
              </a:rPr>
              <a:t>✓ 有　✕ 無　？ 未查證</a:t>
            </a:r>
            <a:endParaRPr lang="en-US" sz="1000" dirty="0"/>
          </a:p>
        </p:txBody>
      </p:sp>
      <p:sp>
        <p:nvSpPr>
          <p:cNvPr id="5" name="Text 3"/>
          <p:cNvSpPr/>
          <p:nvPr>
            <p:ph idx="105" type="body" hasCustomPrompt="1"/>
          </p:nvPr>
        </p:nvSpPr>
        <p:spPr>
          <a:xfrm>
            <a:off x="566928" y="1426464"/>
            <a:ext cx="5349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騰訊開發，PC 與手機跨平台；手機版 2025 年 4 月在中國以外上線，Garena 代理台港澳。2026 Q1 手遊射擊 IAP 第 3、MAU 第 8。主打撤離：帶裝備進場、活著撤離才保住戰利品。</a:t>
            </a:r>
            <a:endParaRPr lang="en-US" sz="1200" dirty="0"/>
          </a:p>
        </p:txBody>
      </p:sp>
      <p:graphicFrame>
        <p:nvGraphicFramePr>
          <p:cNvPr id="6" name="mechanism-gri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53328" y="1481328"/>
          <a:ext cx="5605272" cy="914400"/>
        </p:xfrm>
        <a:graphic>
          <a:graphicData uri="http://schemas.openxmlformats.org/drawingml/2006/table">
            <a:tbl>
              <a:tblPr/>
              <a:tblGrid>
                <a:gridCol w="700659"/>
                <a:gridCol w="700659"/>
                <a:gridCol w="700659"/>
                <a:gridCol w="700659"/>
                <a:gridCol w="700659"/>
                <a:gridCol w="700659"/>
                <a:gridCol w="700659"/>
                <a:gridCol w="700659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貨幣包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運營活動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限時抽獎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新手禮包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通行證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會員訂閱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直購商店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數值或保險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？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？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？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？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chart-title"/>
          <p:cNvSpPr txBox="1"/>
          <p:nvPr/>
        </p:nvSpPr>
        <p:spPr>
          <a:xfrm>
            <a:off x="566928" y="2615184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2026 Q1 三角洲手遊 IAP 的地區來源</a:t>
            </a:r>
            <a:endParaRPr lang="en-US" sz="1300" dirty="0"/>
          </a:p>
        </p:txBody>
      </p:sp>
      <p:sp>
        <p:nvSpPr>
          <p:cNvPr id="8" name="stat-96"/>
          <p:cNvSpPr txBox="1"/>
          <p:nvPr/>
        </p:nvSpPr>
        <p:spPr>
          <a:xfrm>
            <a:off x="566928" y="30175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96%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2606040" y="312724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來自中國；中國以外只有 4%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02920" y="3931920"/>
          <a:ext cx="4572000" cy="914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566928" y="4937760"/>
            <a:ext cx="4434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排名對照：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IAP 第 3、MAU 第 8。新射擊在中國以外都還沒超過三角洲 2025/4 的海外上市表現。</a:t>
            </a:r>
            <a:endParaRPr lang="en-US" sz="1100" dirty="0"/>
          </a:p>
        </p:txBody>
      </p:sp>
      <p:sp>
        <p:nvSpPr>
          <p:cNvPr id="12" name="chart-note"/>
          <p:cNvSpPr txBox="1"/>
          <p:nvPr/>
        </p:nvSpPr>
        <p:spPr>
          <a:xfrm>
            <a:off x="566928" y="557784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出處：Sensor Tower Action &amp; Strategy p27、p29。</a:t>
            </a:r>
            <a:endParaRPr lang="en-US" sz="1000" dirty="0"/>
          </a:p>
        </p:txBody>
      </p:sp>
      <p:graphicFrame>
        <p:nvGraphicFramePr>
          <p:cNvPr id="11" name="detail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68112" y="2651760"/>
          <a:ext cx="61722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61188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對比維度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撤離射擊（三角洲、暗區突圍）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CODM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核心循環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帶裝備進場、搜刮、活著撤離才保住戰利品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每局獨立，輸贏不影響資產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付費邏輯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賣「少輸一點」：安全箱、保險箱；遊戲幣經濟與交易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賣外觀：通行證、抽獎、商店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代表價格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三角洲通行證 520／720 三角幣（約 52／72 人民幣），含安全箱權限；暗區突圍保險箱 30 天 2,600 Bond（約 24.99 美元，PC 版）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通行證 220 CP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風險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pay-to-win 觀感（暗區突圍 PC 版上線後被批評）；哈夫幣灰色交易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依賴抽獎檔期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4" name="Text 3"/>
          <p:cNvSpPr/>
          <p:nvPr>
            <p:ph idx="106" type="body" hasCustomPrompt="1"/>
          </p:nvPr>
        </p:nvSpPr>
        <p:spPr>
          <a:xfrm>
            <a:off x="411480" y="6089904"/>
            <a:ext cx="10835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撤離射擊用「玩法換戰場」避開正面競爭，付費多了一層「保險」。</a:t>
            </a:r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三角洲在中國以外的收入仍小，台港澳的關鍵是縮短和陸服的版本落差，並避免 pay-to-win 觀感。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 txBox="1"/>
          <p:nvPr/>
        </p:nvSpPr>
        <p:spPr>
          <a:xfrm>
            <a:off x="411480" y="301752"/>
            <a:ext cx="914400" cy="9144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荒野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行動</a:t>
            </a:r>
            <a:endParaRPr lang="en-US" sz="13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1508760" y="274320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《荒野行動》以日本市場和聯名轉蛋為核心，天井設計讓玩家知道「最多花多少」</a:t>
            </a:r>
            <a:endParaRPr lang="en-US" sz="2400" dirty="0"/>
          </a:p>
        </p:txBody>
      </p:sp>
      <p:sp>
        <p:nvSpPr>
          <p:cNvPr id="4" name="Text 3"/>
          <p:cNvSpPr/>
          <p:nvPr>
            <p:ph idx="104" type="body" hasCustomPrompt="1"/>
          </p:nvPr>
        </p:nvSpPr>
        <p:spPr>
          <a:xfrm>
            <a:off x="8732520" y="274320"/>
            <a:ext cx="30449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5"/>
                </a:solidFill>
              </a:rPr>
              <a:t>資料來源：AppMatch（2026/7）、Altema（2026/8）、中央社（2022/9）。</a:t>
            </a:r>
            <a:endParaRPr lang="en-US" sz="1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5"/>
                </a:solidFill>
              </a:rPr>
              <a:t>✓ 有　✕ 無　？ 未查證</a:t>
            </a:r>
            <a:endParaRPr lang="en-US" sz="1000" dirty="0"/>
          </a:p>
        </p:txBody>
      </p:sp>
      <p:sp>
        <p:nvSpPr>
          <p:cNvPr id="5" name="Text 3"/>
          <p:cNvSpPr/>
          <p:nvPr>
            <p:ph idx="105" type="body" hasCustomPrompt="1"/>
          </p:nvPr>
        </p:nvSpPr>
        <p:spPr>
          <a:xfrm>
            <a:off x="566928" y="1426464"/>
            <a:ext cx="5349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網易開發的大逃殺手遊，2017 年上線，以日本為主要市場。貨幣為金券，一抽 120 金券；常態有殿堂轉蛋、榮光物資轉蛋，並頻繁推出動漫聯名轉蛋；外觀不影響數值。</a:t>
            </a:r>
            <a:endParaRPr lang="en-US" sz="1200" dirty="0"/>
          </a:p>
        </p:txBody>
      </p:sp>
      <p:graphicFrame>
        <p:nvGraphicFramePr>
          <p:cNvPr id="7" name="mechanism-gri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53328" y="1481328"/>
          <a:ext cx="5605272" cy="914400"/>
        </p:xfrm>
        <a:graphic>
          <a:graphicData uri="http://schemas.openxmlformats.org/drawingml/2006/table">
            <a:tbl>
              <a:tblPr/>
              <a:tblGrid>
                <a:gridCol w="700659"/>
                <a:gridCol w="700659"/>
                <a:gridCol w="700659"/>
                <a:gridCol w="700659"/>
                <a:gridCol w="700659"/>
                <a:gridCol w="700659"/>
                <a:gridCol w="700659"/>
                <a:gridCol w="700659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貨幣包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運營活動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限時抽獎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新手禮包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通行證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會員訂閱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直購商店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數值或保險</a:t>
                      </a:r>
                      <a:endParaRPr lang="en-US" sz="10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？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？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3"/>
                          </a:solidFill>
                        </a:rPr>
                        <a:t>？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5"/>
                          </a:solidFill>
                        </a:rPr>
                        <a:t>✕</a:t>
                      </a:r>
                      <a:endParaRPr lang="en-US" sz="1600" dirty="0"/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chart-title"/>
          <p:cNvSpPr txBox="1"/>
          <p:nvPr/>
        </p:nvSpPr>
        <p:spPr>
          <a:xfrm>
            <a:off x="566928" y="2615184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殿堂轉蛋抽到金框的累積機率（%）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2920" y="2999232"/>
          <a:ext cx="45720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chart-note"/>
          <p:cNvSpPr txBox="1"/>
          <p:nvPr/>
        </p:nvSpPr>
        <p:spPr>
          <a:xfrm>
            <a:off x="566928" y="557784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推算：假設每抽獨立、金框 0.9%。100 抽約 60%、250 抽約 90%，第 251 抽天井保底。</a:t>
            </a:r>
            <a:endParaRPr lang="en-US" sz="1000" dirty="0"/>
          </a:p>
        </p:txBody>
      </p:sp>
      <p:graphicFrame>
        <p:nvGraphicFramePr>
          <p:cNvPr id="13" name="detail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68112" y="2651760"/>
          <a:ext cx="61722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74320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變現策略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機制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特點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基礎貨幣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金券，一抽 120 金券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儲值回饋活動：儲值到 2,300 日圓可拿到最多獎勵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常態轉蛋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殿堂轉蛋金框 0.9%、天井 251 抽；榮光物資轉蛋金框約 2.2%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天井約 3–4 萬日圓，把上限講清楚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聯名轉蛋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期間限定的動漫等聯名轉蛋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用 IP 帶話題和營收高峰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通行證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菁英、皇家兩檔；皇家含週任務點數 1.5 倍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穩定收入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1" name="Text 3"/>
          <p:cNvSpPr/>
          <p:nvPr>
            <p:ph idx="106" type="body" hasCustomPrompt="1"/>
          </p:nvPr>
        </p:nvSpPr>
        <p:spPr>
          <a:xfrm>
            <a:off x="411480" y="6089904"/>
            <a:ext cx="10835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荒野行動是「固定單價＋天井」，CODM 是「越抽越貴、最後必中」，</a:t>
            </a:r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共同點都是讓玩家知道最多花多少。台灣 2023 年起規定公布轉蛋機率，透明保底也是合規的一部分。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 txBox="1"/>
          <p:nvPr/>
        </p:nvSpPr>
        <p:spPr>
          <a:xfrm>
            <a:off x="411480" y="301752"/>
            <a:ext cx="914400" cy="9144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啟示</a:t>
            </a:r>
            <a:endParaRPr lang="en-US" sz="13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1508760" y="274320"/>
            <a:ext cx="70408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對 CODM 的啟示：補上訂閱與付費引導、守住玩家網絡，比再加一個模式更重要</a:t>
            </a:r>
            <a:endParaRPr lang="en-US" sz="2400" dirty="0"/>
          </a:p>
        </p:txBody>
      </p:sp>
      <p:sp>
        <p:nvSpPr>
          <p:cNvPr id="4" name="Text 3"/>
          <p:cNvSpPr/>
          <p:nvPr>
            <p:ph idx="104" type="body" hasCustomPrompt="1"/>
          </p:nvPr>
        </p:nvSpPr>
        <p:spPr>
          <a:xfrm>
            <a:off x="8732520" y="274320"/>
            <a:ext cx="30449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accent5"/>
                </a:solidFill>
              </a:rPr>
              <a:t>資料來源：GameRefinery；Sensor Tower Action &amp; Strategy p26–28；巴哈姆特哈啦板（2026/7/8–10/8 自行統計）；各競品頁來源。</a:t>
            </a:r>
            <a:endParaRPr lang="en-US" sz="1000" dirty="0"/>
          </a:p>
        </p:txBody>
      </p:sp>
      <p:sp>
        <p:nvSpPr>
          <p:cNvPr id="5" name="Text 3"/>
          <p:cNvSpPr/>
          <p:nvPr>
            <p:ph idx="105" type="body" hasCustomPrompt="1"/>
          </p:nvPr>
        </p:nvSpPr>
        <p:spPr>
          <a:xfrm>
            <a:off x="566928" y="1426464"/>
            <a:ext cx="5349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主流射擊都用「通行證＋限時抽獎」，差別在訂閱層、是否賣數值或保險，以及玩法和市場定位。CODM 的缺口不在模式數量，而在付費深度和社群活躍。</a:t>
            </a:r>
            <a:endParaRPr lang="en-US" sz="1200" dirty="0"/>
          </a:p>
        </p:txBody>
      </p:sp>
      <p:sp>
        <p:nvSpPr>
          <p:cNvPr id="6" name="kpi-1"/>
          <p:cNvSpPr/>
          <p:nvPr/>
        </p:nvSpPr>
        <p:spPr>
          <a:xfrm>
            <a:off x="6053328" y="1481328"/>
            <a:ext cx="1335024" cy="768096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26480" y="151790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$7.3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8745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CODM 每次下載收入</a:t>
            </a:r>
            <a:endParaRPr lang="en-US" sz="1000" dirty="0"/>
          </a:p>
        </p:txBody>
      </p:sp>
      <p:sp>
        <p:nvSpPr>
          <p:cNvPr id="9" name="kpi-2"/>
          <p:cNvSpPr/>
          <p:nvPr/>
        </p:nvSpPr>
        <p:spPr>
          <a:xfrm>
            <a:off x="7479792" y="1481328"/>
            <a:ext cx="1335024" cy="768096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52944" y="151790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→ 5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552944" y="18745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CODM 的 MAU 與 IAP 排名</a:t>
            </a:r>
            <a:endParaRPr lang="en-US" sz="1000" dirty="0"/>
          </a:p>
        </p:txBody>
      </p:sp>
      <p:sp>
        <p:nvSpPr>
          <p:cNvPr id="12" name="kpi-3"/>
          <p:cNvSpPr/>
          <p:nvPr/>
        </p:nvSpPr>
        <p:spPr>
          <a:xfrm>
            <a:off x="8906256" y="1481328"/>
            <a:ext cx="1335024" cy="768096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79408" y="151790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14→9%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979408" y="18745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CoD 系列射擊廣告聲量</a:t>
            </a:r>
            <a:endParaRPr lang="en-US" sz="1000" dirty="0"/>
          </a:p>
        </p:txBody>
      </p:sp>
      <p:sp>
        <p:nvSpPr>
          <p:cNvPr id="15" name="kpi-4"/>
          <p:cNvSpPr/>
          <p:nvPr/>
        </p:nvSpPr>
        <p:spPr>
          <a:xfrm>
            <a:off x="10332720" y="1481328"/>
            <a:ext cx="1335024" cy="768096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05872" y="151790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篇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0405872" y="18745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CODM 巴哈三個月新文章</a:t>
            </a:r>
            <a:endParaRPr lang="en-US" sz="1000" dirty="0"/>
          </a:p>
        </p:txBody>
      </p:sp>
      <p:sp>
        <p:nvSpPr>
          <p:cNvPr id="18" name="chart-title"/>
          <p:cNvSpPr txBox="1"/>
          <p:nvPr/>
        </p:nvSpPr>
        <p:spPr>
          <a:xfrm>
            <a:off x="566928" y="2615184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射擊廣告聲量份額（%）</a:t>
            </a:r>
            <a:endParaRPr lang="en-US" sz="13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02920" y="2999232"/>
          <a:ext cx="45720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chart-note"/>
          <p:cNvSpPr txBox="1"/>
          <p:nvPr/>
        </p:nvSpPr>
        <p:spPr>
          <a:xfrm>
            <a:off x="566928" y="557784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出處：Sensor Tower Action &amp; Strategy p28。2025 年新進者 Battlefield、Marvel Rivals、Borderlands、三角洲合計 20%。</a:t>
            </a:r>
            <a:endParaRPr lang="en-US" sz="1000" dirty="0"/>
          </a:p>
        </p:txBody>
      </p:sp>
      <p:graphicFrame>
        <p:nvGraphicFramePr>
          <p:cNvPr id="8" name="detail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68112" y="2651760"/>
          <a:ext cx="61722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057400"/>
                <a:gridCol w="2514600"/>
                <a:gridCol w="5943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方向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競品做法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CODM 可以怎麼做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優先</a:t>
                      </a:r>
                      <a:endParaRPr lang="en-US" sz="11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會員訂閱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PUBG M Prime 0.99／9.99 美元；FF 週月會員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評估月卡或訂閱，拉付費率和日活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高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付費引導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新手禮包 0.99 美元是業界標配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回流禮包、新手禮包、商店分類（巴哈有人不知道怎麼課金）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高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透明保底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荒野 251 抽天井；CODM 最後必中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維持並強化機率與保底揭露（台灣法規）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高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玩法定位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三角洲撤離、FF 短局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用限時模式測新玩法，但集中配對人口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中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公平性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FF 賣數值、撤離射擊賣保險引發爭議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維持外觀為主，當成信任優勢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守住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2" name="Text 3"/>
          <p:cNvSpPr/>
          <p:nvPr>
            <p:ph idx="106" type="body" hasCustomPrompt="1"/>
          </p:nvPr>
        </p:nvSpPr>
        <p:spPr>
          <a:xfrm>
            <a:off x="411480" y="6089904"/>
            <a:ext cx="10835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對手贏在找到差異，不是模式比較多：</a:t>
            </a:r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訂閱層（PUBG M）、玩法和裝置（FF、三角洲）、市場（中國、新興市場）。CODM 最快能動的是付費深度和社群，兩者都不用改核心玩法。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M Navy">
  <a:themeElements>
    <a:clrScheme name="CODM Navy">
      <a:dk1>
        <a:srgbClr val="333333"/>
      </a:dk1>
      <a:lt1>
        <a:srgbClr val="FFFFFF"/>
      </a:lt1>
      <a:dk2>
        <a:srgbClr val="1A2744"/>
      </a:dk2>
      <a:lt2>
        <a:srgbClr val="F2F2F2"/>
      </a:lt2>
      <a:accent1>
        <a:srgbClr val="1A2744"/>
      </a:accent1>
      <a:accent2>
        <a:srgbClr val="3B5998"/>
      </a:accent2>
      <a:accent3>
        <a:srgbClr val="7B9CC2"/>
      </a:accent3>
      <a:accent4>
        <a:srgbClr val="C5D5EA"/>
      </a:accent4>
      <a:accent5>
        <a:srgbClr val="888888"/>
      </a:accent5>
      <a:accent6>
        <a:srgbClr val="2D4A7A"/>
      </a:accent6>
      <a:hlink>
        <a:srgbClr val="2251FF"/>
      </a:hlink>
      <a:folHlink>
        <a:srgbClr val="3B5998"/>
      </a:folHlink>
    </a:clrScheme>
    <a:fontScheme name="CODM Navy">
      <a:majorFont>
        <a:latin typeface="Georgia"/>
        <a:ea typeface="Microsoft JhengHei"/>
        <a:cs typeface=""/>
        <a:font script="Jpan" typeface="游ゴシック Light"/>
        <a:font script="Hang" typeface="맑은 고딕"/>
        <a:font script="Hans" typeface="等线 Light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Microsoft JhengHei"/>
        <a:cs typeface=""/>
        <a:font script="Jpan" typeface="游ゴシック"/>
        <a:font script="Hang" typeface="맑은 고딕"/>
        <a:font script="Hans" typeface="等线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CODM 與競品變現分析</dc:title>
  <dc:subject>PptxGenJS Presentation</dc:subject>
  <dc:creator>Kevin Lin</dc:creator>
  <cp:lastModifiedBy>Kevin Lin</cp:lastModifiedBy>
  <cp:revision>1</cp:revision>
  <dcterms:created xsi:type="dcterms:W3CDTF">2026-10-11T07:34:06Z</dcterms:created>
  <dcterms:modified xsi:type="dcterms:W3CDTF">2026-10-11T07:34:06Z</dcterms:modified>
</cp:coreProperties>
</file>